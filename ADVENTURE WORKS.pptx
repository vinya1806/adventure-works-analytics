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317" r:id="rId5"/>
    <p:sldId id="307" r:id="rId6"/>
    <p:sldId id="312" r:id="rId7"/>
    <p:sldId id="324" r:id="rId8"/>
    <p:sldId id="325" r:id="rId9"/>
    <p:sldId id="323" r:id="rId10"/>
    <p:sldId id="319" r:id="rId11"/>
    <p:sldId id="320" r:id="rId12"/>
    <p:sldId id="326" r:id="rId13"/>
    <p:sldId id="314" r:id="rId14"/>
    <p:sldId id="30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636A58"/>
    <a:srgbClr val="505A47"/>
    <a:srgbClr val="D1D8B7"/>
    <a:srgbClr val="A09D79"/>
    <a:srgbClr val="AD5C4D"/>
    <a:srgbClr val="543E35"/>
    <a:srgbClr val="637700"/>
    <a:srgbClr val="FFF4ED"/>
    <a:srgbClr val="5E6A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405" autoAdjust="0"/>
  </p:normalViewPr>
  <p:slideViewPr>
    <p:cSldViewPr snapToGrid="0">
      <p:cViewPr varScale="1">
        <p:scale>
          <a:sx n="85" d="100"/>
          <a:sy n="85" d="100"/>
        </p:scale>
        <p:origin x="403" y="48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4/21/2026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4/21/2026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24997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099865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5" Type="http://schemas.openxmlformats.org/officeDocument/2006/relationships/hyperlink" Target="https://creativecommons.org/licenses/by/3.0/" TargetMode="External"/><Relationship Id="rId4" Type="http://schemas.openxmlformats.org/officeDocument/2006/relationships/hyperlink" Target="https://eltorobumingo.blogspot.com/2011/10/introduction.html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f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62" y="914400"/>
            <a:ext cx="5315094" cy="5029200"/>
          </a:xfrm>
        </p:spPr>
        <p:txBody>
          <a:bodyPr anchor="ctr"/>
          <a:lstStyle/>
          <a:p>
            <a:r>
              <a:rPr lang="en-IN" sz="4800" b="1" dirty="0"/>
              <a:t>Team Members </a:t>
            </a:r>
            <a:br>
              <a:rPr lang="en-IN" sz="4800" b="1" dirty="0"/>
            </a:br>
            <a:r>
              <a:rPr lang="en-IN" sz="3600" dirty="0"/>
              <a:t>Vinayak</a:t>
            </a:r>
            <a:r>
              <a:rPr lang="en-IN" sz="3600" b="1" dirty="0"/>
              <a:t> </a:t>
            </a:r>
            <a:r>
              <a:rPr lang="en-IN" sz="3600" dirty="0"/>
              <a:t>chougule</a:t>
            </a:r>
            <a:br>
              <a:rPr lang="en-IN" sz="3600" dirty="0"/>
            </a:br>
            <a:r>
              <a:rPr lang="en-IN" sz="3600" dirty="0"/>
              <a:t>Mahesh Dnyaneshwar Haldankar	</a:t>
            </a:r>
            <a:br>
              <a:rPr lang="en-IN" sz="3600" dirty="0"/>
            </a:br>
            <a:r>
              <a:rPr lang="en-IN" sz="3600" dirty="0"/>
              <a:t>Sagar Sankadal</a:t>
            </a:r>
            <a:br>
              <a:rPr lang="en-IN" sz="4800" dirty="0"/>
            </a:br>
            <a:endParaRPr lang="en-US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353D8FB-AF93-6EB1-04E5-F53C98D616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2055" y="636494"/>
            <a:ext cx="6742984" cy="53071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87A765-DC61-2645-5A43-52221BEA78A9}"/>
              </a:ext>
            </a:extLst>
          </p:cNvPr>
          <p:cNvSpPr txBox="1"/>
          <p:nvPr/>
        </p:nvSpPr>
        <p:spPr>
          <a:xfrm>
            <a:off x="5277981" y="6023396"/>
            <a:ext cx="61273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solidFill>
                  <a:srgbClr val="000000"/>
                </a:solidFill>
              </a:rPr>
              <a:t>PRESENTED BY GROUP 3</a:t>
            </a: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46C7B-D29F-368C-FEEC-CDFA125F8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67" y="914400"/>
            <a:ext cx="5641848" cy="5029200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0D6FB95E-6987-A57C-3663-3FD6F6FAC2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6248163"/>
              </p:ext>
            </p:extLst>
          </p:nvPr>
        </p:nvGraphicFramePr>
        <p:xfrm>
          <a:off x="6869113" y="1143000"/>
          <a:ext cx="5053946" cy="4614818"/>
        </p:xfrm>
        <a:graphic>
          <a:graphicData uri="http://schemas.openxmlformats.org/drawingml/2006/table">
            <a:tbl>
              <a:tblPr firstRow="1" bandRow="1"/>
              <a:tblGrid>
                <a:gridCol w="5053946">
                  <a:extLst>
                    <a:ext uri="{9D8B030D-6E8A-4147-A177-3AD203B41FA5}">
                      <a16:colId xmlns:a16="http://schemas.microsoft.com/office/drawing/2014/main" val="1563570424"/>
                    </a:ext>
                  </a:extLst>
                </a:gridCol>
              </a:tblGrid>
              <a:tr h="78279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latin typeface="+mn-lt"/>
                          <a:cs typeface="Gill Sans Light" panose="020B0302020104020203" pitchFamily="34" charset="-79"/>
                        </a:rPr>
                        <a:t>INTRODUCTION</a:t>
                      </a:r>
                    </a:p>
                    <a:p>
                      <a:pPr algn="r"/>
                      <a:r>
                        <a:rPr lang="en-US" sz="2400" b="0" dirty="0">
                          <a:latin typeface="+mj-lt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9471877"/>
                  </a:ext>
                </a:extLst>
              </a:tr>
              <a:tr h="97900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0" dirty="0">
                          <a:solidFill>
                            <a:schemeClr val="tx1"/>
                          </a:solidFill>
                          <a:latin typeface="+mn-lt"/>
                        </a:rPr>
                        <a:t>OVERVIEW</a:t>
                      </a:r>
                    </a:p>
                    <a:p>
                      <a:pPr marL="0" algn="r" defTabSz="914400" rtl="0" eaLnBrk="1" latinLnBrk="0" hangingPunct="1"/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6238222"/>
                  </a:ext>
                </a:extLst>
              </a:tr>
              <a:tr h="998987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0" dirty="0">
                          <a:solidFill>
                            <a:schemeClr val="tx1"/>
                          </a:solidFill>
                          <a:latin typeface="+mn-lt"/>
                        </a:rPr>
                        <a:t>PROJECT ANALYSIS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0" algn="r" defTabSz="914400" rtl="0" eaLnBrk="1" latinLnBrk="0" hangingPunct="1"/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24452646"/>
                  </a:ext>
                </a:extLst>
              </a:tr>
              <a:tr h="95902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0" dirty="0">
                          <a:solidFill>
                            <a:schemeClr val="tx1"/>
                          </a:solidFill>
                          <a:latin typeface="+mn-lt"/>
                        </a:rPr>
                        <a:t>RECOMMENDATIONS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0977400"/>
                  </a:ext>
                </a:extLst>
              </a:tr>
              <a:tr h="854835">
                <a:tc>
                  <a:txBody>
                    <a:bodyPr/>
                    <a:lstStyle/>
                    <a:p>
                      <a:pPr algn="r"/>
                      <a:r>
                        <a:rPr lang="en-IN" sz="2400" b="0" dirty="0">
                          <a:solidFill>
                            <a:schemeClr val="tx1"/>
                          </a:solidFill>
                          <a:latin typeface="+mn-lt"/>
                        </a:rPr>
                        <a:t>CONCLUSION</a:t>
                      </a:r>
                    </a:p>
                    <a:p>
                      <a:pPr marL="0" algn="r" defTabSz="914400" rtl="0" eaLnBrk="1" latinLnBrk="0" hangingPunct="1"/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56376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044F7-BD97-2FDE-4E33-A565BCF0E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142" y="323732"/>
            <a:ext cx="8222914" cy="772791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97F60-88E2-C430-D52B-6604405AD55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17986" y="1441012"/>
            <a:ext cx="7266040" cy="4841801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0000"/>
                </a:solidFill>
              </a:rPr>
              <a:t>Adventure Works Analytics Project – End-to-End Data Analysis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00"/>
                </a:solidFill>
              </a:rPr>
              <a:t>This project focuses on analyzing </a:t>
            </a:r>
            <a:r>
              <a:rPr lang="en-US" b="1" dirty="0">
                <a:solidFill>
                  <a:srgbClr val="000000"/>
                </a:solidFill>
              </a:rPr>
              <a:t>Adventure Works sales data to</a:t>
            </a:r>
            <a:r>
              <a:rPr lang="en-US" dirty="0">
                <a:solidFill>
                  <a:srgbClr val="000000"/>
                </a:solidFill>
              </a:rPr>
              <a:t> derive meaningful business insights using multiple data analytics tools. The dataset contains information related to sales transactions, products, customers, categories, regions, and time-based attributes.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00"/>
                </a:solidFill>
              </a:rPr>
              <a:t>The main objective of this project is to understand </a:t>
            </a:r>
            <a:r>
              <a:rPr lang="en-US" b="1" dirty="0">
                <a:solidFill>
                  <a:srgbClr val="000000"/>
                </a:solidFill>
              </a:rPr>
              <a:t>sales performance, customer behavior, product trends, and profitability by</a:t>
            </a:r>
            <a:r>
              <a:rPr lang="en-US" dirty="0">
                <a:solidFill>
                  <a:srgbClr val="000000"/>
                </a:solidFill>
              </a:rPr>
              <a:t> performing data cleaning, transformation, analysis, and visualization across different platforms.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00"/>
                </a:solidFill>
              </a:rPr>
              <a:t>To demonstrate a complete data analytics workflow, this project is implemented using four</a:t>
            </a:r>
            <a:r>
              <a:rPr lang="en-US" b="1" dirty="0">
                <a:solidFill>
                  <a:srgbClr val="000000"/>
                </a:solidFill>
              </a:rPr>
              <a:t> modules: Excel, SQL, Power BI, and Tableau</a:t>
            </a:r>
            <a:r>
              <a:rPr lang="en-US" dirty="0">
                <a:solidFill>
                  <a:srgbClr val="000000"/>
                </a:solidFill>
              </a:rPr>
              <a:t>.</a:t>
            </a:r>
          </a:p>
          <a:p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19" name="Picture Placeholder 18">
            <a:extLst>
              <a:ext uri="{FF2B5EF4-FFF2-40B4-BE49-F238E27FC236}">
                <a16:creationId xmlns:a16="http://schemas.microsoft.com/office/drawing/2014/main" id="{9CE3B874-45B1-EF14-DB29-420E2E881D9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4992" r="14992"/>
          <a:stretch>
            <a:fillRect/>
          </a:stretch>
        </p:blipFill>
        <p:spPr/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241A5EC-6133-32BA-A833-328F3D79A04C}"/>
              </a:ext>
            </a:extLst>
          </p:cNvPr>
          <p:cNvSpPr txBox="1"/>
          <p:nvPr/>
        </p:nvSpPr>
        <p:spPr>
          <a:xfrm>
            <a:off x="7623125" y="6534269"/>
            <a:ext cx="458951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4" tooltip="https://eltorobumingo.blogspot.com/2011/10/introduction.html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5" tooltip="https://creativecommons.org/licenses/by/3.0/"/>
              </a:rPr>
              <a:t>CC BY</a:t>
            </a:r>
            <a:endParaRPr lang="en-IN" sz="900"/>
          </a:p>
        </p:txBody>
      </p:sp>
    </p:spTree>
    <p:extLst>
      <p:ext uri="{BB962C8B-B14F-4D97-AF65-F5344CB8AC3E}">
        <p14:creationId xmlns:p14="http://schemas.microsoft.com/office/powerpoint/2010/main" val="859909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C3907-5D88-152A-7B33-FB587CCA6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222324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64B41-4292-F680-595B-15F64405FA9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8612" y="2223247"/>
            <a:ext cx="11916603" cy="4552456"/>
          </a:xfrm>
        </p:spPr>
        <p:txBody>
          <a:bodyPr>
            <a:normAutofit fontScale="9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sng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Project Overview 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Analyzed Adventure Works sales data to uncover insights about: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Sales distribution across years and regions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Product category and subcategory performance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Customer purchasing behavior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Profitability and cost analysis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Followed an end-to-end data analytics lifecycle including data   cleaning, transformation, analysis, and visualization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Used multiple tools to showcase versatility and practical data analytics skills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Built interactive dashboards and KPIs for clear and effective business storytelling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u="sng" dirty="0">
                <a:solidFill>
                  <a:srgbClr val="00B050"/>
                </a:solidFill>
                <a:latin typeface="Arial" panose="020B0604020202020204" pitchFamily="34" charset="0"/>
              </a:rPr>
              <a:t>Tools Used 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b="1" u="sng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Excel – Data cleaning, transformation, and initial sales analysis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SQL (MySQL)– Data storage, joins, calculations, and analytical querying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Power BI – Interactive dashboards, KPI cards, and trend analysis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Tableau – Advanced visual analytics and storytelling dashboards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2000" dirty="0">
              <a:solidFill>
                <a:schemeClr val="accent1"/>
              </a:solidFill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AB1524-2086-336F-E14C-22E751862B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8" name="Picture 7" descr="A diagram of a data modeling process">
            <a:extLst>
              <a:ext uri="{FF2B5EF4-FFF2-40B4-BE49-F238E27FC236}">
                <a16:creationId xmlns:a16="http://schemas.microsoft.com/office/drawing/2014/main" id="{309CABB0-F101-FACC-6E06-9A3AB62B0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9647"/>
            <a:ext cx="12192000" cy="231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602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C41C0-3C42-B06D-9B7E-6C700BBCC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274552" cy="618565"/>
          </a:xfrm>
        </p:spPr>
        <p:txBody>
          <a:bodyPr/>
          <a:lstStyle/>
          <a:p>
            <a:r>
              <a:rPr lang="en-US" dirty="0"/>
              <a:t>Excel dashboard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60309763-B8A8-87F1-505B-7807389A2C1C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0" y="510988"/>
            <a:ext cx="8095129" cy="6347012"/>
          </a:xfrm>
        </p:spPr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E3936D-7611-0B38-D9D6-0E1F243053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8" name="Picture 7" descr="A screenshot of a computer">
            <a:extLst>
              <a:ext uri="{FF2B5EF4-FFF2-40B4-BE49-F238E27FC236}">
                <a16:creationId xmlns:a16="http://schemas.microsoft.com/office/drawing/2014/main" id="{CFD17C91-C3FC-5C5B-AE95-0AEB298C5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0988"/>
            <a:ext cx="8095129" cy="63470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125DCE-D668-772D-4C8A-37079A4BA7C0}"/>
              </a:ext>
            </a:extLst>
          </p:cNvPr>
          <p:cNvSpPr txBox="1"/>
          <p:nvPr/>
        </p:nvSpPr>
        <p:spPr>
          <a:xfrm>
            <a:off x="8292352" y="1841410"/>
            <a:ext cx="389964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✅</a:t>
            </a:r>
            <a:r>
              <a:rPr lang="en-US" dirty="0">
                <a:solidFill>
                  <a:schemeClr val="accent1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We Did: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accent1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Cleaned and structured raw sales data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accent1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Created calculated columns (Sales, Profit, Cost)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accent1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Built Pivot Tables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accent1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Designed KPI dashboard</a:t>
            </a:r>
          </a:p>
          <a:p>
            <a:endParaRPr lang="en-US" sz="1800" dirty="0">
              <a:solidFill>
                <a:schemeClr val="accent1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chemeClr val="accent1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📈INSIGHTS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>
                <a:solidFill>
                  <a:schemeClr val="accent1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Sales peak in Q4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>
                <a:solidFill>
                  <a:schemeClr val="accent1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Bikes contribute highest revenue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>
                <a:solidFill>
                  <a:schemeClr val="accent1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USA &amp; Australia lead in sales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>
                <a:solidFill>
                  <a:schemeClr val="accent1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Profit depends on cost efficiency</a:t>
            </a:r>
          </a:p>
        </p:txBody>
      </p:sp>
    </p:spTree>
    <p:extLst>
      <p:ext uri="{BB962C8B-B14F-4D97-AF65-F5344CB8AC3E}">
        <p14:creationId xmlns:p14="http://schemas.microsoft.com/office/powerpoint/2010/main" val="3064425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3731A-9CB4-40C3-2099-3234C78CF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303" y="0"/>
            <a:ext cx="11739913" cy="491613"/>
          </a:xfrm>
        </p:spPr>
        <p:txBody>
          <a:bodyPr/>
          <a:lstStyle/>
          <a:p>
            <a:r>
              <a:rPr lang="en-US" dirty="0"/>
              <a:t>SQL KPIS</a:t>
            </a:r>
            <a:endParaRPr lang="en-IN" dirty="0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AAB17693-0178-5DA1-0FB6-D361CEA4BFA5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353962" y="1592826"/>
            <a:ext cx="11582400" cy="3313471"/>
          </a:xfrm>
        </p:spPr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64940F-CB4B-B25D-30B9-D8A4D764C9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5AEB2C-452F-D373-71BF-C6D9F53BC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554" y="1592826"/>
            <a:ext cx="11529808" cy="3313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591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F621B-A181-DF15-09CE-15CA21A93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2298"/>
            <a:ext cx="11274552" cy="553162"/>
          </a:xfrm>
        </p:spPr>
        <p:txBody>
          <a:bodyPr/>
          <a:lstStyle/>
          <a:p>
            <a:r>
              <a:rPr lang="en-US" b="1" dirty="0"/>
              <a:t>Power bi Dashboard</a:t>
            </a:r>
            <a:endParaRPr lang="en-IN" b="1" dirty="0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A67D5D64-26B1-4D2F-97E1-D5D0BC6F209A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8324" y="717755"/>
            <a:ext cx="8911206" cy="6057948"/>
          </a:xfrm>
        </p:spPr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CA2FFF-1894-F414-D77E-F916EF5C5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DC9F3C-041B-C467-8A44-C61CE459C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23" y="717755"/>
            <a:ext cx="8911206" cy="61402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7EA8E8-A4EB-85D6-F53A-D27F2028005F}"/>
              </a:ext>
            </a:extLst>
          </p:cNvPr>
          <p:cNvSpPr txBox="1"/>
          <p:nvPr/>
        </p:nvSpPr>
        <p:spPr>
          <a:xfrm>
            <a:off x="9009528" y="1139850"/>
            <a:ext cx="318247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FF0000">
                    <a:alpha val="64000"/>
                  </a:srgbClr>
                </a:solidFill>
                <a:effectLst/>
              </a:rPr>
              <a:t>Imported and transformed data using Power Query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FF0000">
                    <a:alpha val="64000"/>
                  </a:srgbClr>
                </a:solidFill>
                <a:effectLst/>
              </a:rPr>
              <a:t>Created relationships between fact and dimension tables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FF0000">
                    <a:alpha val="64000"/>
                  </a:srgbClr>
                </a:solidFill>
                <a:effectLst/>
              </a:rPr>
              <a:t>Built DAX measures (Total Sales, Profit, Margin %)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FF0000">
                    <a:alpha val="64000"/>
                  </a:srgbClr>
                </a:solidFill>
                <a:effectLst/>
              </a:rPr>
              <a:t>Designed interactive visuals with slicers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FF0000">
                    <a:alpha val="64000"/>
                  </a:srgbClr>
                </a:solidFill>
                <a:effectLst/>
              </a:rPr>
              <a:t>Developed dynamic KPI cards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7A85DE-A760-0D35-164C-2BE6D7E1DB98}"/>
              </a:ext>
            </a:extLst>
          </p:cNvPr>
          <p:cNvSpPr txBox="1"/>
          <p:nvPr/>
        </p:nvSpPr>
        <p:spPr>
          <a:xfrm flipH="1">
            <a:off x="9009524" y="-170329"/>
            <a:ext cx="3182471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800" b="1" dirty="0"/>
          </a:p>
          <a:p>
            <a:endParaRPr lang="en-IN" sz="1800" b="1" dirty="0"/>
          </a:p>
          <a:p>
            <a:endParaRPr lang="en-IN" b="1" dirty="0"/>
          </a:p>
          <a:p>
            <a:r>
              <a:rPr lang="en-IN" sz="1800" b="1" dirty="0">
                <a:solidFill>
                  <a:srgbClr val="FF0000"/>
                </a:solidFill>
              </a:rPr>
              <a:t>✅</a:t>
            </a:r>
            <a:r>
              <a:rPr lang="en-IN" sz="1800" b="1" dirty="0">
                <a:solidFill>
                  <a:srgbClr val="FFFF00"/>
                </a:solidFill>
              </a:rPr>
              <a:t>What We Did : </a:t>
            </a:r>
          </a:p>
          <a:p>
            <a:endParaRPr lang="en-IN" b="1" dirty="0">
              <a:solidFill>
                <a:srgbClr val="FF0000"/>
              </a:solidFill>
            </a:endParaRPr>
          </a:p>
          <a:p>
            <a:endParaRPr lang="en-IN" sz="1800" b="1" dirty="0">
              <a:solidFill>
                <a:srgbClr val="FF0000"/>
              </a:solidFill>
            </a:endParaRPr>
          </a:p>
          <a:p>
            <a:endParaRPr lang="en-IN" sz="1800" dirty="0">
              <a:solidFill>
                <a:srgbClr val="FF0000"/>
              </a:solidFill>
            </a:endParaRPr>
          </a:p>
          <a:p>
            <a:endParaRPr lang="en-IN" sz="1800" dirty="0">
              <a:solidFill>
                <a:srgbClr val="FF0000"/>
              </a:solidFill>
            </a:endParaRPr>
          </a:p>
          <a:p>
            <a:endParaRPr lang="en-IN" sz="1800" dirty="0">
              <a:solidFill>
                <a:srgbClr val="FF0000"/>
              </a:solidFill>
            </a:endParaRPr>
          </a:p>
          <a:p>
            <a:endParaRPr lang="en-IN" sz="1800" dirty="0">
              <a:solidFill>
                <a:srgbClr val="FF0000"/>
              </a:solidFill>
            </a:endParaRPr>
          </a:p>
          <a:p>
            <a:endParaRPr lang="en-IN" sz="1800" dirty="0">
              <a:solidFill>
                <a:srgbClr val="FF0000"/>
              </a:solidFill>
            </a:endParaRPr>
          </a:p>
          <a:p>
            <a:endParaRPr lang="en-IN" sz="1800" dirty="0">
              <a:solidFill>
                <a:srgbClr val="FF0000"/>
              </a:solidFill>
            </a:endParaRPr>
          </a:p>
          <a:p>
            <a:endParaRPr lang="en-IN" sz="1800" dirty="0">
              <a:solidFill>
                <a:srgbClr val="FF0000"/>
              </a:solidFill>
            </a:endParaRPr>
          </a:p>
          <a:p>
            <a:endParaRPr lang="en-IN" sz="1800" dirty="0">
              <a:solidFill>
                <a:srgbClr val="FF0000"/>
              </a:solidFill>
            </a:endParaRPr>
          </a:p>
          <a:p>
            <a:r>
              <a:rPr lang="en-IN" sz="1800" b="1" dirty="0">
                <a:solidFill>
                  <a:srgbClr val="FF0000"/>
                </a:solidFill>
              </a:rPr>
              <a:t>📈</a:t>
            </a:r>
            <a:r>
              <a:rPr lang="en-IN" sz="1800" b="1" dirty="0">
                <a:solidFill>
                  <a:srgbClr val="FFFF00"/>
                </a:solidFill>
              </a:rPr>
              <a:t>Insights 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rgbClr val="FF0000"/>
                </a:solidFill>
              </a:rPr>
              <a:t>Consistent year-wise growth trend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rgbClr val="FF0000"/>
                </a:solidFill>
              </a:rPr>
              <a:t>Clear seasonal pattern in monthly sales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rgbClr val="FF0000"/>
                </a:solidFill>
              </a:rPr>
              <a:t>Production cost significantly impacts profit margin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rgbClr val="FF0000"/>
                </a:solidFill>
              </a:rPr>
              <a:t>Top 10 products contribute major share of revenue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rgbClr val="FF0000"/>
                </a:solidFill>
              </a:rPr>
              <a:t>Regional performance varies significantly </a:t>
            </a:r>
          </a:p>
        </p:txBody>
      </p:sp>
    </p:spTree>
    <p:extLst>
      <p:ext uri="{BB962C8B-B14F-4D97-AF65-F5344CB8AC3E}">
        <p14:creationId xmlns:p14="http://schemas.microsoft.com/office/powerpoint/2010/main" val="3434928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4A5AE-7C03-EAB4-86FC-1535E1A56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F4734-495B-6AC8-431E-B881083B0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2298"/>
            <a:ext cx="11274552" cy="553162"/>
          </a:xfrm>
        </p:spPr>
        <p:txBody>
          <a:bodyPr/>
          <a:lstStyle/>
          <a:p>
            <a:r>
              <a:rPr lang="en-US" b="1" dirty="0"/>
              <a:t>Tableau Dashboard</a:t>
            </a:r>
            <a:endParaRPr lang="en-IN" b="1" dirty="0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9BCB7D03-CA9C-9913-3B4E-21132B3199E4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8323" y="717755"/>
            <a:ext cx="12005187" cy="6057948"/>
          </a:xfrm>
        </p:spPr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78B37-5E26-1BCA-2393-6639E34BD6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896552-7B24-02CA-54AE-F9A52A2E2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7754"/>
            <a:ext cx="8955741" cy="61388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A38B67B-A51F-835D-DAE5-AB9670FB1C2A}"/>
              </a:ext>
            </a:extLst>
          </p:cNvPr>
          <p:cNvSpPr txBox="1"/>
          <p:nvPr/>
        </p:nvSpPr>
        <p:spPr>
          <a:xfrm>
            <a:off x="8955740" y="3963797"/>
            <a:ext cx="3147769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002060"/>
                </a:solidFill>
              </a:rPr>
              <a:t>📈</a:t>
            </a:r>
            <a:r>
              <a:rPr lang="en-IN" b="1" dirty="0">
                <a:solidFill>
                  <a:srgbClr val="FFFF00"/>
                </a:solidFill>
              </a:rPr>
              <a:t>Insights 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solidFill>
                  <a:srgbClr val="002060"/>
                </a:solidFill>
              </a:rPr>
              <a:t>2013 recorded highest annual sales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solidFill>
                  <a:srgbClr val="002060"/>
                </a:solidFill>
              </a:rPr>
              <a:t>Q4 shows strongest sales performance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solidFill>
                  <a:srgbClr val="002060"/>
                </a:solidFill>
              </a:rPr>
              <a:t>Top customers contribute large portion of revenue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solidFill>
                  <a:srgbClr val="002060"/>
                </a:solidFill>
              </a:rPr>
              <a:t>Sales growth does not always translate to higher margins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solidFill>
                  <a:srgbClr val="002060"/>
                </a:solidFill>
              </a:rPr>
              <a:t>Cost optimization improves overall profitability.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A7AA85-3632-F17E-50FE-C6A5100ECE2E}"/>
              </a:ext>
            </a:extLst>
          </p:cNvPr>
          <p:cNvSpPr txBox="1"/>
          <p:nvPr/>
        </p:nvSpPr>
        <p:spPr>
          <a:xfrm>
            <a:off x="8955738" y="545810"/>
            <a:ext cx="3147769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1600" b="1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1600" b="1" dirty="0"/>
              <a:t>✅</a:t>
            </a:r>
            <a:r>
              <a:rPr lang="en-IN" dirty="0">
                <a:solidFill>
                  <a:srgbClr val="FFFF00"/>
                </a:solidFill>
                <a:latin typeface="Algerian" panose="04020705040A02060702" pitchFamily="82" charset="0"/>
              </a:rPr>
              <a:t>What We Did :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02060">
                  <a:alpha val="64000"/>
                </a:srgbClr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2060">
                    <a:alpha val="64000"/>
                  </a:srgbClr>
                </a:solidFill>
                <a:effectLst/>
                <a:latin typeface="Arial" panose="020B0604020202020204" pitchFamily="34" charset="0"/>
              </a:rPr>
              <a:t>Connected structured dataset to Tableau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2060">
                    <a:alpha val="64000"/>
                  </a:srgbClr>
                </a:solidFill>
                <a:effectLst/>
                <a:latin typeface="Arial" panose="020B0604020202020204" pitchFamily="34" charset="0"/>
              </a:rPr>
              <a:t>Created calculated fields and parameters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2060">
                    <a:alpha val="64000"/>
                  </a:srgbClr>
                </a:solidFill>
                <a:effectLst/>
                <a:latin typeface="Arial" panose="020B0604020202020204" pitchFamily="34" charset="0"/>
              </a:rPr>
              <a:t>Designed Year-wise, Month-wise and Quarter-wise visuals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2060">
                    <a:alpha val="64000"/>
                  </a:srgbClr>
                </a:solidFill>
                <a:effectLst/>
                <a:latin typeface="Arial" panose="020B0604020202020204" pitchFamily="34" charset="0"/>
              </a:rPr>
              <a:t>Built Profit Margin and Customer KPIs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2060">
                    <a:alpha val="64000"/>
                  </a:srgbClr>
                </a:solidFill>
                <a:effectLst/>
                <a:latin typeface="Arial" panose="020B0604020202020204" pitchFamily="34" charset="0"/>
              </a:rPr>
              <a:t>Developed interactive drill-down analysis</a:t>
            </a:r>
          </a:p>
        </p:txBody>
      </p:sp>
    </p:spTree>
    <p:extLst>
      <p:ext uri="{BB962C8B-B14F-4D97-AF65-F5344CB8AC3E}">
        <p14:creationId xmlns:p14="http://schemas.microsoft.com/office/powerpoint/2010/main" val="1335926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3731A-9CB4-40C3-2099-3234C78CF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303" y="0"/>
            <a:ext cx="11739913" cy="491613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64940F-CB4B-B25D-30B9-D8A4D764C9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C928BD-75BA-E122-BD9C-E3CF3AAF9E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303" y="1217446"/>
            <a:ext cx="4442853" cy="442310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A2E7990-2AF4-A064-EFBC-E77777D52493}"/>
              </a:ext>
            </a:extLst>
          </p:cNvPr>
          <p:cNvSpPr txBox="1"/>
          <p:nvPr/>
        </p:nvSpPr>
        <p:spPr>
          <a:xfrm>
            <a:off x="5065059" y="1649507"/>
            <a:ext cx="607807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7030A0"/>
                </a:solidFill>
                <a:latin typeface="Agency FB" panose="020B0503020202020204" pitchFamily="34" charset="0"/>
              </a:rPr>
              <a:t>Increase focus on high-selling and high-profit products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7030A0"/>
                </a:solidFill>
                <a:latin typeface="Agency FB" panose="020B0503020202020204" pitchFamily="34" charset="0"/>
              </a:rPr>
              <a:t>Optimize pricing and discount strategies to improve margins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7030A0"/>
                </a:solidFill>
                <a:latin typeface="Agency FB" panose="020B0503020202020204" pitchFamily="34" charset="0"/>
              </a:rPr>
              <a:t>Improve inventory availability for high-demand products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7030A0"/>
                </a:solidFill>
                <a:latin typeface="Agency FB" panose="020B0503020202020204" pitchFamily="34" charset="0"/>
              </a:rPr>
              <a:t>Strengthen sales performance in high-revenue regions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7030A0"/>
                </a:solidFill>
                <a:latin typeface="Agency FB" panose="020B0503020202020204" pitchFamily="34" charset="0"/>
              </a:rPr>
              <a:t>Target repeat customers with loyalty and promotional offers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7030A0"/>
                </a:solidFill>
                <a:latin typeface="Agency FB" panose="020B0503020202020204" pitchFamily="34" charset="0"/>
              </a:rPr>
              <a:t>Expand marketing efforts for underperforming product categories</a:t>
            </a:r>
          </a:p>
        </p:txBody>
      </p:sp>
    </p:spTree>
    <p:extLst>
      <p:ext uri="{BB962C8B-B14F-4D97-AF65-F5344CB8AC3E}">
        <p14:creationId xmlns:p14="http://schemas.microsoft.com/office/powerpoint/2010/main" val="4056539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B33A77B-664F-FFD3-D61A-0D344C269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88490"/>
            <a:ext cx="10360152" cy="747252"/>
          </a:xfrm>
        </p:spPr>
        <p:txBody>
          <a:bodyPr/>
          <a:lstStyle/>
          <a:p>
            <a:r>
              <a:rPr lang="en-US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B0F3C-5228-C9FB-1212-1D4894C80B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6982" y="1818967"/>
            <a:ext cx="11661057" cy="4060837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00"/>
                </a:solidFill>
              </a:rPr>
              <a:t>The Adventure Works dataset was analyzed using Excel, SQL, Power BI, and Tableau</a:t>
            </a:r>
            <a:br>
              <a:rPr lang="en-US" dirty="0">
                <a:solidFill>
                  <a:srgbClr val="000000"/>
                </a:solidFill>
              </a:rPr>
            </a:br>
            <a:endParaRPr lang="en-US" dirty="0">
              <a:solidFill>
                <a:srgbClr val="00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00"/>
                </a:solidFill>
              </a:rPr>
              <a:t>Data was cleaned, transformed, analyzed, and visualized to extract meaningful business insights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00"/>
                </a:solidFill>
              </a:rPr>
              <a:t>KPIs and dashboards helped understand sales performance, profitability, and customer behavior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00"/>
                </a:solidFill>
              </a:rPr>
              <a:t>This project demonstrates a complete end-to-end data analytics process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00"/>
                </a:solidFill>
              </a:rPr>
              <a:t>The insights generated can support better business and strategic decision-making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>
              <a:solidFill>
                <a:srgbClr val="000000"/>
              </a:solidFill>
            </a:endParaRPr>
          </a:p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9500A-4B75-29F9-CE37-C3E13D6A56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147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6DCC38C-603B-CCD0-2914-0BBCD4F4F74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/>
          <a:lstStyle/>
          <a:p>
            <a:r>
              <a:rPr lang="en-US" dirty="0"/>
              <a:t>BRITA TAMM</a:t>
            </a:r>
          </a:p>
          <a:p>
            <a:r>
              <a:rPr lang="en-US" dirty="0"/>
              <a:t>502-555-0152</a:t>
            </a:r>
          </a:p>
          <a:p>
            <a:pPr lvl="1"/>
            <a:r>
              <a:rPr lang="en-US" dirty="0"/>
              <a:t>brita@firstupconsultants.com</a:t>
            </a:r>
          </a:p>
          <a:p>
            <a:pPr lvl="1"/>
            <a:r>
              <a:rPr lang="en-US" dirty="0"/>
              <a:t>www.firstupconsultants.com</a:t>
            </a:r>
          </a:p>
          <a:p>
            <a:endParaRPr lang="en-US" dirty="0"/>
          </a:p>
        </p:txBody>
      </p:sp>
      <p:pic>
        <p:nvPicPr>
          <p:cNvPr id="3" name="Picture 2" descr="A finger pointing at a blue button">
            <a:extLst>
              <a:ext uri="{FF2B5EF4-FFF2-40B4-BE49-F238E27FC236}">
                <a16:creationId xmlns:a16="http://schemas.microsoft.com/office/drawing/2014/main" id="{AF4E8275-0287-164F-F6BE-51E75FDBF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678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{C43A8684-7E27-487E-9DE4-7FD215CDDDB5}TF1ed9553b-00c4-4092-846a-c8f7f2908f3beecd942f_win32-8e33096c3cfc</Template>
  <TotalTime>117</TotalTime>
  <Words>597</Words>
  <Application>Microsoft Office PowerPoint</Application>
  <PresentationFormat>Widescreen</PresentationFormat>
  <Paragraphs>122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Agency FB</vt:lpstr>
      <vt:lpstr>Algerian</vt:lpstr>
      <vt:lpstr>Arial</vt:lpstr>
      <vt:lpstr>Calibri</vt:lpstr>
      <vt:lpstr>Courier New</vt:lpstr>
      <vt:lpstr>Gill Sans Nova Light</vt:lpstr>
      <vt:lpstr>Sagona Book</vt:lpstr>
      <vt:lpstr>Wingdings</vt:lpstr>
      <vt:lpstr>Custom</vt:lpstr>
      <vt:lpstr>Team Members  Vinayak chougule Mahesh Dnyaneshwar Haldankar  Sagar Sankadal </vt:lpstr>
      <vt:lpstr>agenda</vt:lpstr>
      <vt:lpstr>Introduction</vt:lpstr>
      <vt:lpstr>PowerPoint Presentation</vt:lpstr>
      <vt:lpstr>Excel dashboard</vt:lpstr>
      <vt:lpstr>SQL KPIS</vt:lpstr>
      <vt:lpstr>Power bi Dashboard</vt:lpstr>
      <vt:lpstr>Tableau Dashboard</vt:lpstr>
      <vt:lpstr>PowerPoint Presentation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sagar sankadal</dc:creator>
  <cp:lastModifiedBy>vinayak chougule</cp:lastModifiedBy>
  <cp:revision>8</cp:revision>
  <dcterms:created xsi:type="dcterms:W3CDTF">2026-04-20T18:01:15Z</dcterms:created>
  <dcterms:modified xsi:type="dcterms:W3CDTF">2026-04-21T07:11:09Z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